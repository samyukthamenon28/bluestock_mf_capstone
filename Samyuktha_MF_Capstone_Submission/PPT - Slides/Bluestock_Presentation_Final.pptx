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0"/>
            <a:ext cx="8229600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BLUESTOCK MUTUAL FUND ANALYTICS</a:t>
            </a:r>
          </a:p>
          <a:p>
            <a:pPr>
              <a:defRPr sz="1400">
                <a:solidFill>
                  <a:srgbClr val="818CF8"/>
                </a:solidFill>
                <a:latin typeface="Arial"/>
              </a:defRPr>
            </a:pPr>
            <a:r>
              <a:t>E2E Quantitative Performance Scorecards, Tail-Risk Modeling, and Ingestion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Presenter: Antigravity AI Pair Programmer  |  Date: June 15, 2026</a:t>
            </a:r>
            <a:br/>
            <a:r>
              <a:t>Frameworks: Python, SQLite, Plotly, Streamlit  |  Version: 1.0 (Final Release)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Holiday Price Distortion</a:t>
            </a:r>
            <a:r>
              <a:rPr sz="1400" b="0">
                <a:solidFill>
                  <a:srgbClr val="FFFFFF"/>
                </a:solidFill>
                <a:latin typeface="Arial"/>
              </a:rPr>
              <a:t>: Missing holiday NAV prices can skew standard deviation and return calculations if holiday periods are not handled.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Analytics Gap</a:t>
            </a:r>
            <a:r>
              <a:rPr sz="1400" b="0">
                <a:solidFill>
                  <a:srgbClr val="FFFFFF"/>
                </a:solidFill>
                <a:latin typeface="Arial"/>
              </a:rPr>
              <a:t>: Standard retail platforms do not calculate tail-risk parameters (VaR/CVaR) or support dynamic asset optimization model simulations.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Capstone Project Objectives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ETL Ingestion Engine</a:t>
            </a:r>
            <a:r>
              <a:rPr sz="1400" b="0">
                <a:solidFill>
                  <a:srgbClr val="FFFFFF"/>
                </a:solidFill>
                <a:latin typeface="Arial"/>
              </a:rPr>
              <a:t>: Build a fully automated E2E pipeline fetching live NAV from mfapi.in and loading SQLite database tables.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Relational Schema</a:t>
            </a:r>
            <a:r>
              <a:rPr sz="1400" b="0">
                <a:solidFill>
                  <a:srgbClr val="FFFFFF"/>
                </a:solidFill>
                <a:latin typeface="Arial"/>
              </a:rPr>
              <a:t>: Design a SQLite star schema layout to cleanly query NAV histories and investor demographics.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Performance Scorecards</a:t>
            </a:r>
            <a:r>
              <a:rPr sz="1400" b="0">
                <a:solidFill>
                  <a:srgbClr val="FFFFFF"/>
                </a:solidFill>
                <a:latin typeface="Arial"/>
              </a:rPr>
              <a:t>: Compute CAGRs, Sharpe, Sortino, Jensen's Alpha, and Beta parameters.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Advanced Risk Dashboards</a:t>
            </a:r>
            <a:r>
              <a:rPr sz="1400" b="0">
                <a:solidFill>
                  <a:srgbClr val="FFFFFF"/>
                </a:solidFill>
                <a:latin typeface="Arial"/>
              </a:rPr>
              <a:t>: Integrate investor cohorts, continuity risk, and sector allocations into interactive workspaces.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DATA SOURCES &amp;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Ingested Datasets</a:t>
            </a:r>
            <a:r>
              <a:rPr sz="1400" b="0">
                <a:solidFill>
                  <a:srgbClr val="FFFFFF"/>
                </a:solidFill>
                <a:latin typeface="Arial"/>
              </a:rPr>
              <a:t>: The relational database processes 10 raw CSV datasets representing mid-2022 to mid-2026: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Fund Registration</a:t>
            </a:r>
            <a:r>
              <a:rPr sz="1400" b="0">
                <a:solidFill>
                  <a:srgbClr val="FFFFFF"/>
                </a:solidFill>
                <a:latin typeface="Arial"/>
              </a:rPr>
              <a:t>: Fund Master (40 schemes) and Scheme Performance lists.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Daily Valuations</a:t>
            </a:r>
            <a:r>
              <a:rPr sz="1400" b="0">
                <a:solidFill>
                  <a:srgbClr val="FFFFFF"/>
                </a:solidFill>
                <a:latin typeface="Arial"/>
              </a:rPr>
              <a:t>: NAV History (64,354 rows) and daily index prices for Nifty 50 and Nifty 100 (8,050 rows).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Asset Allocation</a:t>
            </a:r>
            <a:r>
              <a:rPr sz="1400" b="0">
                <a:solidFill>
                  <a:srgbClr val="FFFFFF"/>
                </a:solidFill>
                <a:latin typeface="Arial"/>
              </a:rPr>
              <a:t>: Portfolio Holdings weights detailing 322 stock allocations.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Investor Attributes</a:t>
            </a:r>
            <a:r>
              <a:rPr sz="1400" b="0">
                <a:solidFill>
                  <a:srgbClr val="FFFFFF"/>
                </a:solidFill>
                <a:latin typeface="Arial"/>
              </a:rPr>
              <a:t>: Investor Transactions (32,778 rows) containing demographic profiles.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Industry Aggregates</a:t>
            </a:r>
            <a:r>
              <a:rPr sz="1400" b="0">
                <a:solidFill>
                  <a:srgbClr val="FFFFFF"/>
                </a:solidFill>
                <a:latin typeface="Arial"/>
              </a:rPr>
              <a:t>: AMC AUM, monthly SIP inflows, category flows, and folio counts.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Star Schema Dimensions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dim_fund</a:t>
            </a:r>
            <a:r>
              <a:rPr sz="1400" b="0">
                <a:solidFill>
                  <a:srgbClr val="FFFFFF"/>
                </a:solidFill>
                <a:latin typeface="Arial"/>
              </a:rPr>
              <a:t> (AMFI code primary key) and </a:t>
            </a:r>
            <a:r>
              <a:rPr sz="1400" b="1">
                <a:solidFill>
                  <a:srgbClr val="818CF8"/>
                </a:solidFill>
                <a:latin typeface="Arial"/>
              </a:rPr>
              <a:t>dim_date</a:t>
            </a:r>
            <a:r>
              <a:rPr sz="1400" b="0">
                <a:solidFill>
                  <a:srgbClr val="FFFFFF"/>
                </a:solidFill>
                <a:latin typeface="Arial"/>
              </a:rPr>
              <a:t> (date_id primary key) act as dimensions.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fact_nav</a:t>
            </a:r>
            <a:r>
              <a:rPr sz="1400" b="0">
                <a:solidFill>
                  <a:srgbClr val="FFFFFF"/>
                </a:solidFill>
                <a:latin typeface="Arial"/>
              </a:rPr>
              <a:t>, </a:t>
            </a:r>
            <a:r>
              <a:rPr sz="1400" b="1">
                <a:solidFill>
                  <a:srgbClr val="818CF8"/>
                </a:solidFill>
                <a:latin typeface="Arial"/>
              </a:rPr>
              <a:t>fact_transactions</a:t>
            </a:r>
            <a:r>
              <a:rPr sz="1400" b="0">
                <a:solidFill>
                  <a:srgbClr val="FFFFFF"/>
                </a:solidFill>
                <a:latin typeface="Arial"/>
              </a:rPr>
              <a:t>, </a:t>
            </a:r>
            <a:r>
              <a:rPr sz="1400" b="1">
                <a:solidFill>
                  <a:srgbClr val="818CF8"/>
                </a:solidFill>
                <a:latin typeface="Arial"/>
              </a:rPr>
              <a:t>fact_performance</a:t>
            </a:r>
            <a:r>
              <a:rPr sz="1400" b="0">
                <a:solidFill>
                  <a:srgbClr val="FFFFFF"/>
                </a:solidFill>
                <a:latin typeface="Arial"/>
              </a:rPr>
              <a:t>, and </a:t>
            </a:r>
            <a:r>
              <a:rPr sz="1400" b="1">
                <a:solidFill>
                  <a:srgbClr val="818CF8"/>
                </a:solidFill>
                <a:latin typeface="Arial"/>
              </a:rPr>
              <a:t>fact_aum</a:t>
            </a:r>
            <a:r>
              <a:rPr sz="1400" b="0">
                <a:solidFill>
                  <a:srgbClr val="FFFFFF"/>
                </a:solidFill>
                <a:latin typeface="Arial"/>
              </a:rPr>
              <a:t> act as 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ETL PIPELINE &amp; INGESTION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Extraction Component</a:t>
            </a:r>
            <a:r>
              <a:rPr sz="1400" b="0">
                <a:solidFill>
                  <a:srgbClr val="FFFFFF"/>
                </a:solidFill>
                <a:latin typeface="Arial"/>
              </a:rPr>
              <a:t>: Standardized requests query mfapi.in API with exponential backoff retries to handle rate limits.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Holiday Forward-Filling Rule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Timeline is reindexed to a full calendar. Missing weekend and holiday NAVs are forward-filled.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Prevents standard deviation damping. Daily returns are calculated strictly on business days (Mon-Fri).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Annualization Standards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Ratios, variances, and compounding CAGRs are annualized utilizing a </a:t>
            </a:r>
            <a:r>
              <a:rPr sz="1400" b="1">
                <a:solidFill>
                  <a:srgbClr val="818CF8"/>
                </a:solidFill>
                <a:latin typeface="Arial"/>
              </a:rPr>
              <a:t>252-day business year</a:t>
            </a:r>
            <a:r>
              <a:rPr sz="1400" b="0">
                <a:solidFill>
                  <a:srgbClr val="FFFFFF"/>
                </a:solidFill>
                <a:latin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SQL Loading</a:t>
            </a:r>
            <a:r>
              <a:rPr sz="1400" b="0">
                <a:solidFill>
                  <a:srgbClr val="FFFFFF"/>
                </a:solidFill>
                <a:latin typeface="Arial"/>
              </a:rPr>
              <a:t>: Ingestion is processed via SQLAlchemy engine, enforcing primary/foreign key relations.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Database indices optimize queries on dates, AMFI codes, and transaction 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EDA HIGHLIGHTS: MACRO INDUSTRY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NAV and AUM Growth</a:t>
            </a:r>
            <a:r>
              <a:rPr sz="1400" b="0">
                <a:solidFill>
                  <a:srgbClr val="FFFFFF"/>
                </a:solidFill>
                <a:latin typeface="Arial"/>
              </a:rPr>
              <a:t>: Valuation trends show consistent performance, with large-cap funds leading in assets.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2023 Bull Run</a:t>
            </a:r>
            <a:r>
              <a:rPr sz="1400" b="0">
                <a:solidFill>
                  <a:srgbClr val="FFFFFF"/>
                </a:solidFill>
                <a:latin typeface="Arial"/>
              </a:rPr>
              <a:t>: Sustained market rally of 2023 is clearly visible across all equity sub-categories.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Monthly SIP Inflows</a:t>
            </a:r>
            <a:r>
              <a:rPr sz="1400" b="0">
                <a:solidFill>
                  <a:srgbClr val="FFFFFF"/>
                </a:solidFill>
                <a:latin typeface="Arial"/>
              </a:rPr>
              <a:t>: Monthly contributions show strong upward momentum,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  proving retail systematic investment discipline continues regardless of short-term drops.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Folio Registrations</a:t>
            </a:r>
            <a:r>
              <a:rPr sz="1400" b="0">
                <a:solidFill>
                  <a:srgbClr val="FFFFFF"/>
                </a:solidFill>
                <a:latin typeface="Arial"/>
              </a:rPr>
              <a:t>: Total folio accounts in India grew steadily, illustrating capital flow migration from savings accounts to mutual funds.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Sector Exposures</a:t>
            </a:r>
            <a:r>
              <a:rPr sz="1400" b="0">
                <a:solidFill>
                  <a:srgbClr val="FFFFFF"/>
                </a:solidFill>
                <a:latin typeface="Arial"/>
              </a:rPr>
              <a:t>: Financial Services, Technology, Energy, and Consumer Staples represent the largest allocations across equity holdings.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EDA HIGHLIGHTS: INVESTOR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Age Concentrations</a:t>
            </a:r>
            <a:r>
              <a:rPr sz="1400" b="0">
                <a:solidFill>
                  <a:srgbClr val="FFFFFF"/>
                </a:solidFill>
                <a:latin typeface="Arial"/>
              </a:rPr>
              <a:t>: Over 65% of the transaction volume is driven by the </a:t>
            </a:r>
            <a:r>
              <a:rPr sz="1400" b="1">
                <a:solidFill>
                  <a:srgbClr val="818CF8"/>
                </a:solidFill>
                <a:latin typeface="Arial"/>
              </a:rPr>
              <a:t>26-35</a:t>
            </a:r>
            <a:r>
              <a:rPr sz="1400" b="0">
                <a:solidFill>
                  <a:srgbClr val="FFFFFF"/>
                </a:solidFill>
                <a:latin typeface="Arial"/>
              </a:rPr>
              <a:t> and </a:t>
            </a:r>
            <a:r>
              <a:rPr sz="1400" b="1">
                <a:solidFill>
                  <a:srgbClr val="818CF8"/>
                </a:solidFill>
                <a:latin typeface="Arial"/>
              </a:rPr>
              <a:t>36-45</a:t>
            </a:r>
            <a:r>
              <a:rPr sz="1400" b="0">
                <a:solidFill>
                  <a:srgbClr val="FFFFFF"/>
                </a:solidFill>
                <a:latin typeface="Arial"/>
              </a:rPr>
              <a:t> age brackets,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  confirming mutual fund popularity among young professionals.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Transaction Size by Age</a:t>
            </a:r>
            <a:r>
              <a:rPr sz="1400" b="0">
                <a:solidFill>
                  <a:srgbClr val="FFFFFF"/>
                </a:solidFill>
                <a:latin typeface="Arial"/>
              </a:rPr>
              <a:t>: Boxplot analysis shows older brackets (46-55, 56+) maintain a wider spread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  and higher median transaction size, reflecting accumulated wealth.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Geographical Volume</a:t>
            </a:r>
            <a:r>
              <a:rPr sz="1400" b="0">
                <a:solidFill>
                  <a:srgbClr val="FFFFFF"/>
                </a:solidFill>
                <a:latin typeface="Arial"/>
              </a:rPr>
              <a:t>: The largest contribution volumes originate from Maharashtra and Gujarat.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City Tier Contribution Split (T30 vs B30)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Top 30 (T30) Cities</a:t>
            </a:r>
            <a:r>
              <a:rPr sz="1400" b="0">
                <a:solidFill>
                  <a:srgbClr val="FFFFFF"/>
                </a:solidFill>
                <a:latin typeface="Arial"/>
              </a:rPr>
              <a:t> represent the majority of absolute asset volume.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Beyond 30 (B30) Cities</a:t>
            </a:r>
            <a:r>
              <a:rPr sz="1400" b="0">
                <a:solidFill>
                  <a:srgbClr val="FFFFFF"/>
                </a:solidFill>
                <a:latin typeface="Arial"/>
              </a:rPr>
              <a:t> show rapid, compounding growth in new account registrations,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    highlighting successful geographical market expansion.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PERFORMANCE SCORECARDS &amp; LEADERBOARDS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Scorecard Metrics</a:t>
            </a:r>
            <a:r>
              <a:rPr sz="1400" b="0">
                <a:solidFill>
                  <a:srgbClr val="FFFFFF"/>
                </a:solidFill>
                <a:latin typeface="Arial"/>
              </a:rPr>
              <a:t>: Performance is evaluated over a 3-year history utilizing daily returns.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Risk-Adjusted Ratios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Sharpe Ratio</a:t>
            </a:r>
            <a:r>
              <a:rPr sz="1400" b="0">
                <a:solidFill>
                  <a:srgbClr val="FFFFFF"/>
                </a:solidFill>
                <a:latin typeface="Arial"/>
              </a:rPr>
              <a:t>: Measures excess return per unit of volatility (risk-free rate = 6.5%).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Sortino Ratio</a:t>
            </a:r>
            <a:r>
              <a:rPr sz="1400" b="0">
                <a:solidFill>
                  <a:srgbClr val="FFFFFF"/>
                </a:solidFill>
                <a:latin typeface="Arial"/>
              </a:rPr>
              <a:t>: Adjusts return for downside deviation only, ignoring upside volatility.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Regression Coefficients (Alpha &amp; Beta)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Calculated via Ordinary Least Squares (OLS) regression against the Nifty 100 benchmark index.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Estimates systematic risk (Beta) and excess manager returns (Alpha).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Weighted Composite Score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Sharpe (30%), Sortino (20%), 3-Year CAGR (30%), and Max Drawdown (20%).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TOP PERFORMING FUNDS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Top Large Cap Schemes (Sorted by Composite Score)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HDFC Top 100 Direct - Growth (AMFI: 125497)</a:t>
            </a:r>
            <a:r>
              <a:rPr sz="1400" b="0">
                <a:solidFill>
                  <a:srgbClr val="FFFFFF"/>
                </a:solidFill>
                <a:latin typeface="Arial"/>
              </a:rPr>
              <a:t>: Highest composite score, driven by stable Sharpe and Sortino ratios.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SBI Bluechip Fund - Direct - Growth (AMFI: 119551)</a:t>
            </a:r>
            <a:r>
              <a:rPr sz="1400" b="0">
                <a:solidFill>
                  <a:srgbClr val="FFFFFF"/>
                </a:solidFill>
                <a:latin typeface="Arial"/>
              </a:rPr>
              <a:t>: Lowest Beta (0.87), providing steady defensive performance.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ICICI Prudential Bluechip - Direct - Growth (AMFI: 120503)</a:t>
            </a:r>
            <a:r>
              <a:rPr sz="1400" b="0">
                <a:solidFill>
                  <a:srgbClr val="FFFFFF"/>
                </a:solidFill>
                <a:latin typeface="Arial"/>
              </a:rPr>
              <a:t>: Consistent outperformance.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Nippon India Large Cap - Direct - Growth (AMFI: 118632)</a:t>
            </a:r>
            <a:r>
              <a:rPr sz="1400" b="0">
                <a:solidFill>
                  <a:srgbClr val="FFFFFF"/>
                </a:solidFill>
                <a:latin typeface="Arial"/>
              </a:rPr>
              <a:t>: Strong alpha creation.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Axis Bluechip Fund - Direct - Growth (AMFI: 119092)</a:t>
            </a:r>
            <a:r>
              <a:rPr sz="1400" b="0">
                <a:solidFill>
                  <a:srgbClr val="FFFFFF"/>
                </a:solidFill>
                <a:latin typeface="Arial"/>
              </a:rPr>
              <a:t>: High technology allocation.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Benchmark Outperformance</a:t>
            </a:r>
            <a:r>
              <a:rPr sz="1400" b="0">
                <a:solidFill>
                  <a:srgbClr val="FFFFFF"/>
                </a:solidFill>
                <a:latin typeface="Arial"/>
              </a:rPr>
              <a:t>: Top schemes generated positive annual alpha (1.5% to 3.2%) and outperformed the Nifty 50 and Nifty 100 indices over the 3-year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DASHBOARD DESIGN &amp; CORE WORKSPACES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Interactive Dashboard</a:t>
            </a:r>
            <a:r>
              <a:rPr sz="1400" b="0">
                <a:solidFill>
                  <a:srgbClr val="FFFFFF"/>
                </a:solidFill>
                <a:latin typeface="Arial"/>
              </a:rPr>
              <a:t>: Built using Streamlit, styled as a custom cyber-dark financial terminal.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Slicer &amp; Filter Controls</a:t>
            </a:r>
            <a:r>
              <a:rPr sz="1400" b="0">
                <a:solidFill>
                  <a:srgbClr val="FFFFFF"/>
                </a:solidFill>
                <a:latin typeface="Arial"/>
              </a:rPr>
              <a:t>: Features Category, Fund House, and Date widgets on every page.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Dashboard Workspaces (Pages 1 - 3)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Page 1: Fund Scorecard &amp; Benchmark</a:t>
            </a:r>
            <a:r>
              <a:rPr sz="1400" b="0">
                <a:solidFill>
                  <a:srgbClr val="FFFFFF"/>
                </a:solidFill>
                <a:latin typeface="Arial"/>
              </a:rPr>
              <a:t> - Displays composite scorecard leaderboards, benchmark comparison trends, and tracking error metrics.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Page 2: NAV Analysis &amp; Correlation</a:t>
            </a:r>
            <a:r>
              <a:rPr sz="1400" b="0">
                <a:solidFill>
                  <a:srgbClr val="FFFFFF"/>
                </a:solidFill>
                <a:latin typeface="Arial"/>
              </a:rPr>
              <a:t> - Compares historical NAV trends, return distribution histograms, and OLS linear return correlation matrices.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Page 3: Industry &amp; AUM Growth</a:t>
            </a:r>
            <a:r>
              <a:rPr sz="1400" b="0">
                <a:solidFill>
                  <a:srgbClr val="FFFFFF"/>
                </a:solidFill>
                <a:latin typeface="Arial"/>
              </a:rPr>
              <a:t> - Visualizes total folio growth, AMC market share, and monthly industry inflows.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DASHBOARD: SIMULATION &amp; RISK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Dashboard Workspaces (Pages 4 - 6)</a:t>
            </a:r>
            <a:r>
              <a:rPr sz="14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Page 4: Investor Demographics</a:t>
            </a:r>
            <a:r>
              <a:rPr sz="1400" b="0">
                <a:solidFill>
                  <a:srgbClr val="FFFFFF"/>
                </a:solidFill>
                <a:latin typeface="Arial"/>
              </a:rPr>
              <a:t> - Tracks transaction volumes by age, gender, state, and city tier.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Page 5: Advanced Simulation &amp; Optimization</a:t>
            </a:r>
            <a:r>
              <a:rPr sz="1400" b="0">
                <a:solidFill>
                  <a:srgbClr val="FFFFFF"/>
                </a:solidFill>
                <a:latin typeface="Arial"/>
              </a:rPr>
              <a:t> - Runs 5-year Monte Carlo growth projections using Geometric Brownian Motion (GBM) and generates the Markowitz Efficient Frontier to compute optimal portfolio weights.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Page 6: Advanced Risk &amp; Cohort Analytics</a:t>
            </a:r>
            <a:r>
              <a:rPr sz="1400" b="0">
                <a:solidFill>
                  <a:srgbClr val="FFFFFF"/>
                </a:solidFill>
                <a:latin typeface="Arial"/>
              </a:rPr>
              <a:t> - Integrates tail-risk metrics (VaR &amp; CVaR), rolling Sharpe ratio timelines, yearly cohort tables, and Sector HHI concentration bars.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/>
            </a:r>
            <a:r>
              <a:rPr sz="1400" b="1">
                <a:solidFill>
                  <a:srgbClr val="818CF8"/>
                </a:solidFill>
                <a:latin typeface="Arial"/>
              </a:rPr>
              <a:t>Premium Visual Theme</a:t>
            </a:r>
            <a:r>
              <a:rPr sz="1400" b="0">
                <a:solidFill>
                  <a:srgbClr val="FFFFFF"/>
                </a:solidFill>
                <a:latin typeface="Arial"/>
              </a:rPr>
              <a:t>: Custom dark theme with neon borders, designed without unnecessary emojis to maintain a professional look.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  <a:r>
              <a:rPr sz="1300" b="1">
                <a:solidFill>
                  <a:srgbClr val="818CF8"/>
                </a:solidFill>
                <a:latin typeface="Arial"/>
              </a:rPr>
              <a:t>Value at Risk (95% Daily VaR)</a:t>
            </a:r>
            <a:r>
              <a:rPr sz="1300" b="0">
                <a:solidFill>
                  <a:srgbClr val="FFFFFF"/>
                </a:solidFill>
                <a:latin typeface="Arial"/>
              </a:rPr>
              <a:t>: Small-cap schemes show daily VaR loss risk of </a:t>
            </a:r>
            <a:r>
              <a:rPr sz="1300" b="1">
                <a:solidFill>
                  <a:srgbClr val="818CF8"/>
                </a:solidFill>
                <a:latin typeface="Arial"/>
              </a:rPr>
              <a:t>-2.63%</a:t>
            </a:r>
            <a:r>
              <a:rPr sz="1300" b="0">
                <a:solidFill>
                  <a:srgbClr val="FFFFFF"/>
                </a:solidFill>
                <a:latin typeface="Arial"/>
              </a:rPr>
              <a:t> (CVaR of </a:t>
            </a:r>
            <a:r>
              <a:rPr sz="1300" b="1">
                <a:solidFill>
                  <a:srgbClr val="818CF8"/>
                </a:solidFill>
                <a:latin typeface="Arial"/>
              </a:rPr>
              <a:t>-3.68%</a:t>
            </a:r>
            <a:r>
              <a:rPr sz="1300" b="0">
                <a:solidFill>
                  <a:srgbClr val="FFFFFF"/>
                </a:solidFill>
                <a:latin typeface="Arial"/>
              </a:rPr>
              <a:t>). Liquid funds demonstrate </a:t>
            </a:r>
            <a:r>
              <a:rPr sz="1300" b="1">
                <a:solidFill>
                  <a:srgbClr val="818CF8"/>
                </a:solidFill>
                <a:latin typeface="Arial"/>
              </a:rPr>
              <a:t>0.00%</a:t>
            </a:r>
            <a:r>
              <a:rPr sz="1300" b="0">
                <a:solidFill>
                  <a:srgbClr val="FFFFFF"/>
                </a:solidFill>
                <a:latin typeface="Arial"/>
              </a:rPr>
              <a:t> daily VaR.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  <a:r>
              <a:rPr sz="1300" b="1">
                <a:solidFill>
                  <a:srgbClr val="818CF8"/>
                </a:solidFill>
                <a:latin typeface="Arial"/>
              </a:rPr>
              <a:t>SIP Continuity Risks</a:t>
            </a:r>
            <a:r>
              <a:rPr sz="1300" b="0">
                <a:solidFill>
                  <a:srgbClr val="FFFFFF"/>
                </a:solidFill>
                <a:latin typeface="Arial"/>
              </a:rPr>
              <a:t>: Out of 1,362 eligible long-term investors (6+ transactions), over </a:t>
            </a:r>
            <a:r>
              <a:rPr sz="1300" b="1">
                <a:solidFill>
                  <a:srgbClr val="818CF8"/>
                </a:solidFill>
                <a:latin typeface="Arial"/>
              </a:rPr>
              <a:t>97.80% (1,332)</a:t>
            </a:r>
            <a:r>
              <a:rPr sz="1300" b="0">
                <a:solidFill>
                  <a:srgbClr val="FFFFFF"/>
                </a:solidFill>
                <a:latin typeface="Arial"/>
              </a:rPr>
              <a:t> are flagged as 'at-risk' due to transaction gaps exceeding 35 days.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  <a:r>
              <a:rPr sz="1300" b="1">
                <a:solidFill>
                  <a:srgbClr val="818CF8"/>
                </a:solidFill>
                <a:latin typeface="Arial"/>
              </a:rPr>
              <a:t>HHI Sector Concentration</a:t>
            </a:r>
            <a:r>
              <a:rPr sz="1300" b="0">
                <a:solidFill>
                  <a:srgbClr val="FFFFFF"/>
                </a:solidFill>
                <a:latin typeface="Arial"/>
              </a:rPr>
              <a:t>: Axis Bluechip is the most concentrated (HHI: 2967.69), while UTI Mid Cap is the most diversified (HHI: 1240.20).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  <a:r>
              <a:rPr sz="1300" b="1">
                <a:solidFill>
                  <a:srgbClr val="818CF8"/>
                </a:solidFill>
                <a:latin typeface="Arial"/>
              </a:rPr>
              <a:t>Strategic Recommendations</a:t>
            </a:r>
            <a:r>
              <a:rPr sz="1300" b="0">
                <a:solidFill>
                  <a:srgbClr val="FFFFFF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  <a:r>
              <a:rPr sz="1300" b="1">
                <a:solidFill>
                  <a:srgbClr val="818CF8"/>
                </a:solidFill>
                <a:latin typeface="Arial"/>
              </a:rPr>
              <a:t>UPI Retention Alerts</a:t>
            </a:r>
            <a:r>
              <a:rPr sz="1300" b="0">
                <a:solidFill>
                  <a:srgbClr val="FFFFFF"/>
                </a:solidFill>
                <a:latin typeface="Arial"/>
              </a:rPr>
              <a:t>: Implement automated notification systems 28 days after an investor's last SIP transaction to prevent missed payments.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/>
            </a:r>
            <a:r>
              <a:rPr sz="1300" b="1">
                <a:solidFill>
                  <a:srgbClr val="818CF8"/>
                </a:solidFill>
                <a:latin typeface="Arial"/>
              </a:rPr>
              <a:t>Standardize Holiday Handling</a:t>
            </a:r>
            <a:r>
              <a:rPr sz="1300" b="0">
                <a:solidFill>
                  <a:srgbClr val="FFFFFF"/>
                </a:solidFill>
                <a:latin typeface="Arial"/>
              </a:rPr>
              <a:t>: Standardize holiday ffill() across all analytics teams to prevent index return distortions.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818CF8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Bluestock Mutual Fund Analytics Terminal — Capstone Project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GitHub Repository: https://github.com/samyukthamenon28/bluestock_mf_capstone</a:t>
            </a:r>
            <a:br/>
            <a:r>
              <a:t>Executable Tag: v1.0  |  Dashboard Port: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