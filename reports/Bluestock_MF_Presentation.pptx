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822960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BLUESTOCK MUTUAL FUND ANALYTICS</a:t>
            </a:r>
          </a:p>
          <a:p>
            <a:pPr>
              <a:defRPr sz="1400">
                <a:solidFill>
                  <a:srgbClr val="818CF8"/>
                </a:solidFill>
                <a:latin typeface="Arial"/>
              </a:defRPr>
            </a:pPr>
            <a:r>
              <a:t>E2E Quantitative Performance Scorecards, Tail-Risk Modeling, and Ingestion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Presenter: Antigravity AI Pair Programmer  |  Date: June 13, 2026</a:t>
            </a:r>
            <a:br/>
            <a:r>
              <a:t>Frameworks: Python, SQLite, Plotly, Streamlit  |  Version: 1.0 (Final Release)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Mutual fund analytics often lack clean historical price alignment, leading to return calculation bias over holiday periods.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Standard retail dashboards do not incorporate tail-risk measures (VaR/CVaR) or interactive simulation engines.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Objectives of the Capstone Project: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Build a fully automated E2E weekday ETL ingestion pipeline for AMFI mutual funds.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Design a star schema SQL database storing fund attributes, NAV histories, and client transactions.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Implement performance scorecards (Sharpe, Sortino, CAGR, Jensen's Alpha, Beta).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Conduct cohort retention audits and model dynamic portfolio optimizations.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DATA SOURCES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Ingests 10 primary CSV datasets representing mid-2022 through mid-2026 records: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Fund Master: 40 unique schemes, classifications, and fund managers.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NAV History / API: Daily NAVs from mfapi.in, reindexed and filled (64,354 rows).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Scheme Performance: Return percentages and Morningstar ratings.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Portfolio Holdings: 322 stock allocations, symbols, weights, and sectors.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Investor Transactions: 32,778 transaction records detailing state, age, and gender.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Auxiliary Tables: AUM growth, monthly SIP inflows, category flows, and folio counts.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Index Benchmarks: Daily index close values for Nifty 50 and Nifty 100 (8,050 rows).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ETL PIPELINE &amp;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Master Pipeline Ingestion Flow: Python scripts extract CSVs -&gt; clean data -&gt; load SQLite.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Holiday Forward-Filling (Critical Rule):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Reindexes NAV dates to a full calendar range, forward-filling weekends and holidays.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Eliminates standard deviation distortion when calculating daily percentage returns.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Annualization Metric Rules: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Returns, variances, and Sharpe ratios are annualized utilizing a 252-day business year.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Star Schema Layout: dim_fund (AMFI PK) and dim_date (date_id PK) act as unified dimensions.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Linked to fact tables: fact_nav, fact_transactions, fact_performance, and fact_aum.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EDA HIGHLIGHTS: MACRO INDUSTRY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Steady NAV &amp; AUM Growth: Long-term trends show steady performance, led by large-cap funds.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2023 Bull Run: Sustained positive returns across all equity categories as valuations expanded.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Monthly SIP Inflows: Monthly retail contributions show consistent upward momentum,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demonstrating retail dollar-cost averaging discipline despite short-term market drops.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Folio Account Growth: Total mutual fund account count in India grew steadily,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confirming growing financial literacy and migration of savings into public equity markets.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Sector Allocations: Average equity fund allocations are dominated by Financial Services,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Information Technology, Energy, and Consumer Staples.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EDA HIGHLIGHTS: INVESTOR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Age Bracket Concentrations: Over 65% of the investor transaction base lies in the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26-35 and 36-45 age groups, representing young to mid-career professionals.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SIP Size by Age: Boxplot analysis shows older age brackets (46-55, 56+) maintain a wider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dispersion and higher median transaction size, reflecting accumulated wealth.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Geographic Contributions: Top investor counts originate from Maharashtra and Gujarat.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City Tier Contribution Split (T30 vs B30):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Top 30 (T30) cities represent the majority of asset volume.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Beyond 30 (B30) cities show rapid, compounding folio registration growth,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  highlighting the geographical expansion of mutual fund penetration in India.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PERFORMANCE SCORECARDS &amp; LEADERBOARDS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Scorecard Formulation: All 40 schemes are evaluated over a 3-year performance window.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Risk-Adjusted Ratios: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Sharpe Ratio: Compares excess return to total standard deviation (risk-free rate = 6.5%).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Sortino Ratio: Adjusts return for downside deviation, ignoring upside volatility.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Regression Coefficients (Jensen's Alpha &amp; Beta):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Regressed daily log returns of funds against Nifty 100 index daily returns.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Determines systematic risk exposure (Beta) and excess manager alpha.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Weighted Composite Score (out of 100):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Sharpe (30%), Sortino (20%), 3-Year CAGR (30%), and Max Drawdown (20%).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TOP PERFORMING FUNDS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Top 5 Funds by Risk-Adjusted Sharpe Ratio: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1. HDFC Top 100 Direct - Growth (AMFI: 125497): Leading composite score &amp; return profile.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2. SBI Bluechip Fund - Direct - Growth (AMFI: 119551): Stable Sharpe, low Beta.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3. ICICI Prudential Bluechip Fund - Direct - Growth (AMFI: 120503): Solid outperformance.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4. Nippon India Large Cap Fund - Direct - Growth (AMFI: 118632): Consistent alpha.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5. Axis Bluechip Fund - Direct - Growth (AMFI: 119092): Strong technology bias.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Alpha / Beta Insights: Top active large-cap funds successfully generated positive annual alpha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while maintaining Beta coefficients close to 0.85-0.95 relative to the Nifty 100 index.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Cumulative Performance: Best funds outperformed the standard Nifty 50 by over 4.5% annualized.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DASHBOARD DESIGN &amp; CORE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Streamlit UI Layout: Structured as a custom cyber-financial terminal.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Slicer and Filter Controls: Multi-select lists, sliders, and date inputs on every page.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Dashboard Workspaces (Pages 1 - 3):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1: Fund Scorecard &amp; Benchmark - Interactive scoreboard leaderboards,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  benchmark tracking comparisons, and dynamic tracking error metrics.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2: NAV Analysis &amp; Correlation - Timelines of daily NAVs, return distribution histograms,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  and OLS linear return correlation matrices.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3: Industry &amp; AUM Growth - Macro trends in total folios and monthly inflows.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DASHBOARD: SIMULATION &amp; RISK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Dashboard Workspaces (Pages 4 - 6):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4: Investor Demographics - Aggregated charts of age, gender, and state attributes.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5: Advanced Simulation &amp; Optimization - Runs Monte Carlo simulations using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  Geometric Brownian Motion (GBM) and computes Markowitz Efficient Frontier weights.</a:t>
            </a:r>
          </a:p>
          <a:p>
            <a:pPr lvl="1"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Page 6: Advanced Risk &amp; Cohort Analytics - Tail-risk VaR/CVaR tables, rolling Sharpe plots,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  investor cohorts, and Sector HHI concentration group comparisons.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Premium Visual Aesthetics: Radial gradient backdrops, neon borders, and tabular layouts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  without unnecessary icons or standard widgets to maintain a premium look.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18CF8"/>
                </a:solidFill>
                <a:latin typeface="Arial"/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Tail Risk parameters: Small-cap equity schemes show daily 95% VaR losses up to -2.63%,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  requiring portfolio managers to size holdings dynamically. Liquid funds maintain 0% VaR.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SIP Continuity Warning: Analysis flagged 97.80% of long-term investors (1,332 out of 1,362)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  as 'at-risk' due to transaction gaps exceeding 35 days (missed payments).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Sector HHI Concentration: Axis Bluechip exhibits the highest sector concentration (HHI: 2967.69),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  while UTI Mid Cap shows the highest diversification (HHI: 1240.20).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Strategic Actionable Recommendations:</a:t>
            </a:r>
          </a:p>
          <a:p>
            <a:pPr lvl="1"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Implement automatic UPI mandate renewal alerts 28 days after the last SIP date.</a:t>
            </a:r>
          </a:p>
          <a:p>
            <a:pPr lvl="1"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Leverage Markowitz Frontier weights to provide personalized client recommendations.</a:t>
            </a:r>
          </a:p>
          <a:p>
            <a:pPr lvl="1">
              <a:spcAft>
                <a:spcPts val="8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standardise holiday ffill() across all analytics teams to prevent index return distortions.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18CF8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Bluestock Mutual Fund Analytics Terminal — Capstone Project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GitHub Repository: https://github.com/samyukthamenon28/bluestock_mf_capstone</a:t>
            </a:r>
            <a:br/>
            <a:r>
              <a:t>Executable Tag: v1.0  |  Dashboard Port: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